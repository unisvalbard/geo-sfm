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49" r:id="rId2"/>
    <p:sldId id="340" r:id="rId3"/>
    <p:sldId id="343" r:id="rId4"/>
    <p:sldId id="351" r:id="rId5"/>
    <p:sldId id="347" r:id="rId6"/>
    <p:sldId id="346" r:id="rId7"/>
    <p:sldId id="34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73962" autoAdjust="0"/>
  </p:normalViewPr>
  <p:slideViewPr>
    <p:cSldViewPr snapToGrid="0">
      <p:cViewPr varScale="1">
        <p:scale>
          <a:sx n="55" d="100"/>
          <a:sy n="55" d="100"/>
        </p:scale>
        <p:origin x="145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7B72033-589B-43AE-B8E1-AF9DC04A1F48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719A40C-B5F1-4C79-B08C-AFF3571CCF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494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9A40C-B5F1-4C79-B08C-AFF3571CCF9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66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12CD-6BBC-BB48-EE1E-C269B2557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5971-894F-7F13-BF01-0C358BA84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9B8E2-DEE8-96C5-C34D-4D46F39CE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013C8-BEDF-A886-D758-59DF63A5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115B4-A1F0-9C92-9B18-AB4C0431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5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F838-6295-EEDC-AF38-9FE136CC2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85770-48D7-0C7B-111C-F0F73BB7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3E666-5A8A-6C2E-D0D0-5D7A82C76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24F10-9DAF-B220-A0CA-AE6FD5C4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4DA5E-DBBF-3ECD-CD6C-897D9812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32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2CA29-4C01-0F7E-643D-026A6C67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4B2C0-3515-917F-211E-CFE307EF0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E063D-BAF5-D41E-E10C-32C462C86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6CBEE-DA57-7E53-CDD5-55493D2A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AAB94-D21C-B797-7BA8-683D1759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1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5455-0639-5E21-DAD1-572CB164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F693C-DC17-9FDE-F0D9-2352C4176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5AA88-ECAA-DA20-8274-2FF1A4450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3F9C2-9A98-88C6-5245-92EC6F53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A8F25-C4E8-AD13-0428-2485CD90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9F7DD-B569-24BA-60F2-A2E8F8E9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6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5E08C-9F32-7563-3628-EC217A0BD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47AF8-666D-5800-A0E5-0B4B40CCB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ADEFF-E3D9-927F-C95E-3CC0B2AD3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1745F-1E3E-ECF5-77C9-C7F823909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A228DF-432E-F2E8-70AC-0261C63449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C1F1D-A06C-1468-EC87-8B52DA8A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FBD76-BC27-F4E4-9002-02BFCF3BE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2301E2-5EA8-0954-FF77-A44CFE91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99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328B-B53F-1C6A-3E28-7C1A28169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C0A71-042C-FDB9-7325-7A37D3C5F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BEF5-B7C0-A1E5-E887-60CF56CA3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DF9D7-268A-0D7D-652D-2DD98BBF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6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92CC5-EF0C-4A4B-5AE8-5CBE233E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63BF0-C775-EF6B-EA4E-45027881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735A4-390F-AFF4-8EF0-433BD0E6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1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04CA-40A4-63E2-0123-09EFD602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AA155-2308-81BA-407B-FDB0CB54A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D6468-8E35-AAAE-88B4-9E9584BD5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6EA74-0630-0EFD-D439-3CFC22FFB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EAD4F-BBCA-F937-DD66-A58BFA9B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4FDB4-26C5-A613-405E-5E6D271C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2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44B7-4AC0-A94C-F826-C68560577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3E2655-631E-4852-BABC-007C2F4DE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7661-C599-4A4F-0AE1-1E7EB8820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BE459-2271-7B06-FD92-FF700B1B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2BF2A-6DE3-DF4D-4834-9BC64E3D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EE4C8-3117-E734-A747-95FA8269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44F7-6794-0386-C42D-DFE371D2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BC444-5767-2423-6605-943C51479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0A41C-BF1F-9847-579F-89CF0FE9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FBE3C-A308-5D65-5394-BDFCF5A39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63C6-9685-FDA9-7DC4-6522FC86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6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0A61DD-5AB8-0D88-2E8D-7752C0D3F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FE05C-F47E-BCA7-5FDA-AC9522C03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4E85A-E6B6-DFE1-0667-54075CD6E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BB17-2D1A-4F24-B9AD-CEA35EC1839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26D83-7CEA-3514-2C60-262445CC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3E740-6655-886A-B191-B379AFD0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82E7-B4E3-4A73-BFB2-CE4B4658C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5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62F70A-6A91-DF8A-E88B-D4D2A1AC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396E6-0242-4B94-D07A-2C4376030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C3256-C58B-CCE4-86D4-43D11F12E4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99BBB17-2D1A-4F24-B9AD-CEA35EC18396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D43EE-2587-B096-BD1E-687EA4E3F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6EC84-5DE4-7CBB-7F9E-8D7004A33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96182E7-B4E3-4A73-BFB2-CE4B4658CA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52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unisvalbard.github.io/Geo-UAV/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unisvalbard.github.io/ebook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jpeg"/><Relationship Id="rId4" Type="http://schemas.openxmlformats.org/officeDocument/2006/relationships/hyperlink" Target="https://unisvalbard.github.io/Geo-Sf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video" Target="https://www.youtube.com/embed/M492EboaOWQ?feature=oembed" TargetMode="External"/><Relationship Id="rId1" Type="http://schemas.openxmlformats.org/officeDocument/2006/relationships/video" Target="https://www.youtube.com/embed/UH3S0TK7tBE?feature=oembed" TargetMode="Externa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7.jpe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AF7B-148E-43F7-EA91-01D5FD88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A2F39A-E48E-3222-283D-E45FC3187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4CE7EB2-52B2-AA53-38C4-15BCB7CB5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A8333-71B1-4DF6-C844-C1CF7525F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07CDD9-699F-861C-7F14-E1950D2D2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2EE5649-3B32-CD38-D867-EB1264564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BEEC6AD-B375-44B6-891E-CFC306798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9750F53-2559-92B6-8353-D333B495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8689DE-25B9-2FFC-2154-689A70EDE2B4}"/>
              </a:ext>
            </a:extLst>
          </p:cNvPr>
          <p:cNvSpPr txBox="1">
            <a:spLocks/>
          </p:cNvSpPr>
          <p:nvPr/>
        </p:nvSpPr>
        <p:spPr>
          <a:xfrm>
            <a:off x="477980" y="1122363"/>
            <a:ext cx="92146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3600" b="1" i="1" dirty="0" err="1">
                <a:latin typeface="Arial" panose="020B0604020202020204" pitchFamily="34" charset="0"/>
              </a:rPr>
              <a:t>Geo</a:t>
            </a:r>
            <a:r>
              <a:rPr lang="nb-NO" sz="3600" b="1" i="1" dirty="0">
                <a:latin typeface="Arial" panose="020B0604020202020204" pitchFamily="34" charset="0"/>
              </a:rPr>
              <a:t>-UAV / </a:t>
            </a:r>
            <a:r>
              <a:rPr lang="nb-NO" sz="3600" b="1" i="1" dirty="0" err="1">
                <a:latin typeface="Arial" panose="020B0604020202020204" pitchFamily="34" charset="0"/>
              </a:rPr>
              <a:t>SfM</a:t>
            </a:r>
            <a:r>
              <a:rPr lang="nb-NO" sz="3600" b="1" i="1" dirty="0">
                <a:latin typeface="Arial" panose="020B0604020202020204" pitchFamily="34" charset="0"/>
              </a:rPr>
              <a:t> (2026 </a:t>
            </a:r>
            <a:r>
              <a:rPr lang="nb-NO" sz="3600" b="1" i="1" dirty="0" err="1">
                <a:latin typeface="Arial" panose="020B0604020202020204" pitchFamily="34" charset="0"/>
              </a:rPr>
              <a:t>edition</a:t>
            </a:r>
            <a:r>
              <a:rPr lang="nb-NO" sz="3600" b="1" i="1" dirty="0">
                <a:latin typeface="Arial" panose="020B0604020202020204" pitchFamily="34" charset="0"/>
              </a:rPr>
              <a:t>): </a:t>
            </a:r>
          </a:p>
          <a:p>
            <a:r>
              <a:rPr lang="nb-NO" sz="3600" b="1" i="1" dirty="0">
                <a:latin typeface="Arial" panose="020B0604020202020204" pitchFamily="34" charset="0"/>
              </a:rPr>
              <a:t>Teaching multiview stereo </a:t>
            </a:r>
            <a:br>
              <a:rPr lang="nb-NO" sz="3600" b="1" i="1" dirty="0">
                <a:latin typeface="Arial" panose="020B0604020202020204" pitchFamily="34" charset="0"/>
              </a:rPr>
            </a:br>
            <a:r>
              <a:rPr lang="nb-NO" sz="3600" b="1" i="1" dirty="0" err="1">
                <a:latin typeface="Arial" panose="020B0604020202020204" pitchFamily="34" charset="0"/>
              </a:rPr>
              <a:t>structure</a:t>
            </a:r>
            <a:r>
              <a:rPr lang="nb-NO" sz="3600" b="1" i="1" dirty="0">
                <a:latin typeface="Arial" panose="020B0604020202020204" pitchFamily="34" charset="0"/>
              </a:rPr>
              <a:t>-from-motion </a:t>
            </a:r>
            <a:r>
              <a:rPr lang="nb-NO" sz="3600" b="1" i="1" dirty="0" err="1">
                <a:latin typeface="Arial" panose="020B0604020202020204" pitchFamily="34" charset="0"/>
              </a:rPr>
              <a:t>photogrammetry</a:t>
            </a:r>
            <a:endParaRPr lang="nb-NO" sz="3600" b="1" i="1" dirty="0">
              <a:latin typeface="Arial" panose="020B0604020202020204" pitchFamily="34" charset="0"/>
            </a:endParaRPr>
          </a:p>
          <a:p>
            <a:r>
              <a:rPr lang="nb-NO" sz="3600" b="1" i="1" dirty="0" err="1">
                <a:latin typeface="Arial" panose="020B0604020202020204" pitchFamily="34" charset="0"/>
              </a:rPr>
              <a:t>acquisition</a:t>
            </a:r>
            <a:r>
              <a:rPr lang="nb-NO" sz="3600" b="1" i="1" dirty="0">
                <a:latin typeface="Arial" panose="020B0604020202020204" pitchFamily="34" charset="0"/>
              </a:rPr>
              <a:t> and </a:t>
            </a:r>
            <a:r>
              <a:rPr lang="nb-NO" sz="3600" b="1" i="1" dirty="0" err="1">
                <a:latin typeface="Arial" panose="020B0604020202020204" pitchFamily="34" charset="0"/>
              </a:rPr>
              <a:t>processing</a:t>
            </a:r>
            <a:r>
              <a:rPr lang="nb-NO" sz="3600" b="1" i="1" dirty="0">
                <a:latin typeface="Arial" panose="020B0604020202020204" pitchFamily="34" charset="0"/>
              </a:rPr>
              <a:t> </a:t>
            </a:r>
            <a:endParaRPr lang="en-US" sz="3400" b="1" dirty="0">
              <a:latin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1C0269F-6D26-F4EA-7BFB-EEC4764DDBE7}"/>
              </a:ext>
            </a:extLst>
          </p:cNvPr>
          <p:cNvSpPr txBox="1">
            <a:spLocks/>
          </p:cNvSpPr>
          <p:nvPr/>
        </p:nvSpPr>
        <p:spPr>
          <a:xfrm>
            <a:off x="477980" y="4872922"/>
            <a:ext cx="4429300" cy="1591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3C921C-314E-56C1-6BA5-DC930725A037}"/>
              </a:ext>
            </a:extLst>
          </p:cNvPr>
          <p:cNvSpPr txBox="1">
            <a:spLocks/>
          </p:cNvSpPr>
          <p:nvPr/>
        </p:nvSpPr>
        <p:spPr>
          <a:xfrm>
            <a:off x="477980" y="3244493"/>
            <a:ext cx="92146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2800" b="1" i="1" dirty="0">
                <a:latin typeface="Arial" panose="020B0604020202020204" pitchFamily="34" charset="0"/>
              </a:rPr>
              <a:t>Geo-SfM: A tutorial on how to </a:t>
            </a:r>
            <a:r>
              <a:rPr lang="nb-NO" sz="2800" b="1" i="1" u="sng" dirty="0">
                <a:latin typeface="Arial" panose="020B0604020202020204" pitchFamily="34" charset="0"/>
              </a:rPr>
              <a:t>plan</a:t>
            </a:r>
            <a:r>
              <a:rPr lang="nb-NO" sz="2800" b="1" u="sng" dirty="0">
                <a:latin typeface="Arial" panose="020B0604020202020204" pitchFamily="34" charset="0"/>
              </a:rPr>
              <a:t>,</a:t>
            </a:r>
            <a:r>
              <a:rPr lang="nb-NO" sz="2800" b="1" i="1" dirty="0">
                <a:latin typeface="Arial" panose="020B0604020202020204" pitchFamily="34" charset="0"/>
              </a:rPr>
              <a:t> </a:t>
            </a:r>
            <a:r>
              <a:rPr lang="nb-NO" sz="2800" b="1" i="1" u="sng" dirty="0" err="1">
                <a:latin typeface="Arial" panose="020B0604020202020204" pitchFamily="34" charset="0"/>
              </a:rPr>
              <a:t>acquire</a:t>
            </a:r>
            <a:r>
              <a:rPr lang="nb-NO" sz="2800" b="1" i="1" dirty="0">
                <a:latin typeface="Arial" panose="020B0604020202020204" pitchFamily="34" charset="0"/>
              </a:rPr>
              <a:t> and </a:t>
            </a:r>
            <a:r>
              <a:rPr lang="nb-NO" sz="2800" b="1" i="1" u="sng" dirty="0" err="1">
                <a:latin typeface="Arial" panose="020B0604020202020204" pitchFamily="34" charset="0"/>
              </a:rPr>
              <a:t>use</a:t>
            </a:r>
            <a:r>
              <a:rPr lang="nb-NO" sz="2800" b="1" i="1" dirty="0">
                <a:latin typeface="Arial" panose="020B0604020202020204" pitchFamily="34" charset="0"/>
              </a:rPr>
              <a:t> UAV </a:t>
            </a:r>
            <a:r>
              <a:rPr lang="nb-NO" sz="2800" b="1" i="1" dirty="0" err="1">
                <a:latin typeface="Arial" panose="020B0604020202020204" pitchFamily="34" charset="0"/>
              </a:rPr>
              <a:t>imagery</a:t>
            </a:r>
            <a:r>
              <a:rPr lang="nb-NO" sz="2800" b="1" i="1" dirty="0">
                <a:latin typeface="Arial" panose="020B0604020202020204" pitchFamily="34" charset="0"/>
              </a:rPr>
              <a:t> and </a:t>
            </a:r>
            <a:r>
              <a:rPr lang="nb-NO" sz="2800" b="1" i="1" dirty="0" err="1">
                <a:latin typeface="Arial" panose="020B0604020202020204" pitchFamily="34" charset="0"/>
              </a:rPr>
              <a:t>SfM</a:t>
            </a:r>
            <a:r>
              <a:rPr lang="nb-NO" sz="2800" b="1" i="1" dirty="0">
                <a:latin typeface="Arial" panose="020B0604020202020204" pitchFamily="34" charset="0"/>
              </a:rPr>
              <a:t> processing in the geosciences</a:t>
            </a:r>
            <a:br>
              <a:rPr lang="nb-NO" sz="2800" b="1" i="1" dirty="0">
                <a:latin typeface="Arial" panose="020B0604020202020204" pitchFamily="34" charset="0"/>
              </a:rPr>
            </a:br>
            <a:r>
              <a:rPr lang="nb-NO" sz="2800" b="1" i="1" dirty="0">
                <a:latin typeface="Arial" panose="020B0604020202020204" pitchFamily="34" charset="0"/>
              </a:rPr>
              <a:t>(</a:t>
            </a:r>
            <a:r>
              <a:rPr lang="nb-NO" sz="2800" b="1" i="1" u="sng" dirty="0">
                <a:latin typeface="Arial" panose="020B0604020202020204" pitchFamily="34" charset="0"/>
              </a:rPr>
              <a:t>not</a:t>
            </a:r>
            <a:r>
              <a:rPr lang="nb-NO" sz="2800" b="1" i="1" dirty="0">
                <a:latin typeface="Arial" panose="020B0604020202020204" pitchFamily="34" charset="0"/>
              </a:rPr>
              <a:t> a lecture series on mathematical and physical principles; neither a photography course)</a:t>
            </a:r>
            <a:endParaRPr lang="en-US" sz="2800" b="1" dirty="0">
              <a:latin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E50D8B-B067-E94D-A76A-2C43A374A43F}"/>
              </a:ext>
            </a:extLst>
          </p:cNvPr>
          <p:cNvGrpSpPr/>
          <p:nvPr/>
        </p:nvGrpSpPr>
        <p:grpSpPr>
          <a:xfrm>
            <a:off x="9704900" y="6443508"/>
            <a:ext cx="2344684" cy="333050"/>
            <a:chOff x="9704900" y="6443508"/>
            <a:chExt cx="2344684" cy="333050"/>
          </a:xfrm>
        </p:grpSpPr>
        <p:pic>
          <p:nvPicPr>
            <p:cNvPr id="11" name="Picture 2" descr="UNIS - The university centre in Svalbard">
              <a:extLst>
                <a:ext uri="{FF2B5EF4-FFF2-40B4-BE49-F238E27FC236}">
                  <a16:creationId xmlns:a16="http://schemas.microsoft.com/office/drawing/2014/main" id="{3C0A2A8B-5B9C-35CA-D06C-73E5616D29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3848" y="6443508"/>
              <a:ext cx="121014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Site is undergoing maintenance">
              <a:extLst>
                <a:ext uri="{FF2B5EF4-FFF2-40B4-BE49-F238E27FC236}">
                  <a16:creationId xmlns:a16="http://schemas.microsoft.com/office/drawing/2014/main" id="{651BB902-37AB-6419-0808-EB6E435274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6409" y="6449818"/>
              <a:ext cx="28317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A black background with grey letters and a red triangle&#10;&#10;Description automatically generated">
              <a:extLst>
                <a:ext uri="{FF2B5EF4-FFF2-40B4-BE49-F238E27FC236}">
                  <a16:creationId xmlns:a16="http://schemas.microsoft.com/office/drawing/2014/main" id="{7BE7427D-E33C-F5F3-4CC5-CF99C3415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4900" y="6486750"/>
              <a:ext cx="580285" cy="270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652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4483D5-183C-E317-4602-6E2443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FE79144-A76D-F3CE-1B24-7CCE37658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2B546-A3AF-4C97-0CDA-90AABBCCF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AA31C-C6DE-73DE-7EC1-FE464C7D3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3611377-98E4-C64E-45A4-8C6EDE9BD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64E112C-FA58-F234-635E-5CF8EA251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C850582-7327-2255-77BA-0FC1C58B1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60260DA-12BE-6B6F-5524-C9D48504680C}"/>
              </a:ext>
            </a:extLst>
          </p:cNvPr>
          <p:cNvSpPr txBox="1">
            <a:spLocks/>
          </p:cNvSpPr>
          <p:nvPr/>
        </p:nvSpPr>
        <p:spPr>
          <a:xfrm>
            <a:off x="477980" y="4872922"/>
            <a:ext cx="4429300" cy="1591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D5C86-6C13-B385-18EB-CE82554A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7563"/>
            <a:ext cx="10515600" cy="1325563"/>
          </a:xfrm>
        </p:spPr>
        <p:txBody>
          <a:bodyPr>
            <a:normAutofit/>
          </a:bodyPr>
          <a:lstStyle/>
          <a:p>
            <a:r>
              <a:rPr lang="nb-NO" sz="3600" dirty="0"/>
              <a:t>AG-214: </a:t>
            </a:r>
            <a:r>
              <a:rPr lang="nb-NO" sz="3600" dirty="0" err="1"/>
              <a:t>autumn</a:t>
            </a:r>
            <a:r>
              <a:rPr lang="nb-NO" sz="3600" dirty="0"/>
              <a:t> 2026 lecture series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EA7A2-E4A5-2799-2A25-121BD1FEE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65880" cy="4351338"/>
          </a:xfrm>
        </p:spPr>
        <p:txBody>
          <a:bodyPr>
            <a:normAutofit fontScale="92500" lnSpcReduction="20000"/>
          </a:bodyPr>
          <a:lstStyle/>
          <a:p>
            <a:r>
              <a:rPr lang="nb-NO" dirty="0"/>
              <a:t>«Learning by </a:t>
            </a:r>
            <a:r>
              <a:rPr lang="nb-NO" dirty="0" err="1"/>
              <a:t>doing</a:t>
            </a:r>
            <a:r>
              <a:rPr lang="nb-NO" dirty="0"/>
              <a:t>»</a:t>
            </a:r>
          </a:p>
          <a:p>
            <a:pPr lvl="1"/>
            <a:r>
              <a:rPr lang="nb-NO" dirty="0"/>
              <a:t>3 days of lectures and </a:t>
            </a:r>
            <a:r>
              <a:rPr lang="nb-NO" dirty="0" err="1"/>
              <a:t>hands-on</a:t>
            </a:r>
            <a:r>
              <a:rPr lang="nb-NO" dirty="0"/>
              <a:t> </a:t>
            </a:r>
            <a:r>
              <a:rPr lang="nb-NO" dirty="0" err="1"/>
              <a:t>practicals</a:t>
            </a:r>
            <a:endParaRPr lang="nb-NO" dirty="0"/>
          </a:p>
          <a:p>
            <a:pPr lvl="1"/>
            <a:r>
              <a:rPr lang="nb-NO" dirty="0"/>
              <a:t>1 </a:t>
            </a:r>
            <a:r>
              <a:rPr lang="nb-NO" dirty="0" err="1"/>
              <a:t>days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fieldwork</a:t>
            </a:r>
            <a:r>
              <a:rPr lang="nb-NO" dirty="0"/>
              <a:t> and </a:t>
            </a:r>
            <a:r>
              <a:rPr lang="nb-NO" dirty="0" err="1"/>
              <a:t>hands-on</a:t>
            </a:r>
            <a:r>
              <a:rPr lang="nb-NO" dirty="0"/>
              <a:t> </a:t>
            </a:r>
            <a:r>
              <a:rPr lang="nb-NO" dirty="0" err="1"/>
              <a:t>acquisition</a:t>
            </a:r>
            <a:r>
              <a:rPr lang="nb-NO" dirty="0"/>
              <a:t> </a:t>
            </a:r>
            <a:r>
              <a:rPr lang="nb-NO" dirty="0" err="1"/>
              <a:t>practical</a:t>
            </a:r>
            <a:endParaRPr lang="nb-NO" dirty="0"/>
          </a:p>
          <a:p>
            <a:pPr marL="457200" lvl="1" indent="0">
              <a:buNone/>
            </a:pPr>
            <a:endParaRPr lang="nb-NO" dirty="0"/>
          </a:p>
          <a:p>
            <a:r>
              <a:rPr lang="nb-NO" dirty="0"/>
              <a:t>Open, online modules: UNIS eBook portal @ </a:t>
            </a:r>
            <a:r>
              <a:rPr lang="nb-NO" dirty="0">
                <a:hlinkClick r:id="rId2"/>
              </a:rPr>
              <a:t>https://unisvalbard.github.io/ebooks/</a:t>
            </a:r>
            <a:endParaRPr lang="nb-NO" dirty="0"/>
          </a:p>
          <a:p>
            <a:endParaRPr lang="nb-NO" dirty="0"/>
          </a:p>
          <a:p>
            <a:r>
              <a:rPr lang="nb-NO" dirty="0" err="1"/>
              <a:t>Geo</a:t>
            </a:r>
            <a:r>
              <a:rPr lang="nb-NO" dirty="0"/>
              <a:t>-UAV: Online </a:t>
            </a:r>
            <a:r>
              <a:rPr lang="nb-NO" dirty="0" err="1"/>
              <a:t>course</a:t>
            </a:r>
            <a:r>
              <a:rPr lang="nb-NO" dirty="0"/>
              <a:t> </a:t>
            </a:r>
            <a:r>
              <a:rPr lang="nb-NO" dirty="0" err="1"/>
              <a:t>tutorial</a:t>
            </a:r>
            <a:r>
              <a:rPr lang="nb-NO" dirty="0"/>
              <a:t>: </a:t>
            </a:r>
            <a:r>
              <a:rPr lang="nb-NO" dirty="0">
                <a:hlinkClick r:id="rId3"/>
              </a:rPr>
              <a:t>https://unisvalbard.github.io/Geo-UAV/</a:t>
            </a:r>
            <a:endParaRPr lang="nb-NO" dirty="0"/>
          </a:p>
          <a:p>
            <a:r>
              <a:rPr lang="nb-NO" sz="2800" dirty="0"/>
              <a:t>Geo-SfM: Online course tutorial: </a:t>
            </a:r>
            <a:r>
              <a:rPr lang="nb-NO" sz="2800" dirty="0">
                <a:hlinkClick r:id="rId4"/>
              </a:rPr>
              <a:t>https://unisvalbard.github.io/Geo-SfM/</a:t>
            </a:r>
            <a:endParaRPr lang="nb-NO" sz="2800" dirty="0"/>
          </a:p>
          <a:p>
            <a:endParaRPr lang="nb-NO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11" name="Picture 4" descr="logo">
            <a:extLst>
              <a:ext uri="{FF2B5EF4-FFF2-40B4-BE49-F238E27FC236}">
                <a16:creationId xmlns:a16="http://schemas.microsoft.com/office/drawing/2014/main" id="{D03FC4AA-36BA-2B5A-8FAF-5E297DCE0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" r="9186" b="6"/>
          <a:stretch/>
        </p:blipFill>
        <p:spPr bwMode="auto">
          <a:xfrm>
            <a:off x="9037678" y="3455994"/>
            <a:ext cx="2286004" cy="257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581852-ADAA-BCD4-CF7A-035D570AE9C6}"/>
              </a:ext>
            </a:extLst>
          </p:cNvPr>
          <p:cNvSpPr txBox="1"/>
          <p:nvPr/>
        </p:nvSpPr>
        <p:spPr>
          <a:xfrm>
            <a:off x="9203489" y="2228671"/>
            <a:ext cx="195438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Peter Betlem</a:t>
            </a:r>
          </a:p>
          <a:p>
            <a:pPr algn="ctr"/>
            <a:r>
              <a:rPr lang="en-US" dirty="0">
                <a:latin typeface="Arial" panose="020B0604020202020204" pitchFamily="34" charset="0"/>
              </a:rPr>
              <a:t>Course Instructor</a:t>
            </a:r>
          </a:p>
          <a:p>
            <a:pPr algn="ctr"/>
            <a:r>
              <a:rPr lang="en-US" dirty="0">
                <a:latin typeface="Arial" panose="020B0604020202020204" pitchFamily="34" charset="0"/>
              </a:rPr>
              <a:t>NGI: 2024 - ???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</a:rPr>
              <a:t>(UNIS: 2016-2024)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762CCD0-FED5-8F25-CC96-DCBDAB5A6172}"/>
              </a:ext>
            </a:extLst>
          </p:cNvPr>
          <p:cNvGrpSpPr/>
          <p:nvPr/>
        </p:nvGrpSpPr>
        <p:grpSpPr>
          <a:xfrm>
            <a:off x="9704900" y="6435344"/>
            <a:ext cx="2344684" cy="333050"/>
            <a:chOff x="9704900" y="6443508"/>
            <a:chExt cx="2344684" cy="333050"/>
          </a:xfrm>
        </p:grpSpPr>
        <p:pic>
          <p:nvPicPr>
            <p:cNvPr id="26" name="Picture 2" descr="UNIS - The university centre in Svalbard">
              <a:extLst>
                <a:ext uri="{FF2B5EF4-FFF2-40B4-BE49-F238E27FC236}">
                  <a16:creationId xmlns:a16="http://schemas.microsoft.com/office/drawing/2014/main" id="{3FBB4A11-E9C3-D45E-8EDE-6CF34C32E5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3848" y="6443508"/>
              <a:ext cx="121014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 descr="Site is undergoing maintenance">
              <a:extLst>
                <a:ext uri="{FF2B5EF4-FFF2-40B4-BE49-F238E27FC236}">
                  <a16:creationId xmlns:a16="http://schemas.microsoft.com/office/drawing/2014/main" id="{A9B52DA7-A2A2-0059-A038-02CDC274F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6409" y="6449818"/>
              <a:ext cx="28317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A black background with grey letters and a red triangle&#10;&#10;Description automatically generated">
              <a:extLst>
                <a:ext uri="{FF2B5EF4-FFF2-40B4-BE49-F238E27FC236}">
                  <a16:creationId xmlns:a16="http://schemas.microsoft.com/office/drawing/2014/main" id="{182DAC85-A616-3DBD-D6D8-798F84AF0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4900" y="6486750"/>
              <a:ext cx="580285" cy="270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151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4483D5-183C-E317-4602-6E2443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FE79144-A76D-F3CE-1B24-7CCE37658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2B546-A3AF-4C97-0CDA-90AABBCCF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AA31C-C6DE-73DE-7EC1-FE464C7D3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3611377-98E4-C64E-45A4-8C6EDE9BD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64E112C-FA58-F234-635E-5CF8EA251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C850582-7327-2255-77BA-0FC1C58B1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60260DA-12BE-6B6F-5524-C9D48504680C}"/>
              </a:ext>
            </a:extLst>
          </p:cNvPr>
          <p:cNvSpPr txBox="1">
            <a:spLocks/>
          </p:cNvSpPr>
          <p:nvPr/>
        </p:nvSpPr>
        <p:spPr>
          <a:xfrm>
            <a:off x="477980" y="4872922"/>
            <a:ext cx="4429300" cy="1591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D5C86-6C13-B385-18EB-CE82554A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7563"/>
            <a:ext cx="10515600" cy="1325563"/>
          </a:xfrm>
        </p:spPr>
        <p:txBody>
          <a:bodyPr>
            <a:normAutofit/>
          </a:bodyPr>
          <a:lstStyle/>
          <a:p>
            <a:r>
              <a:rPr lang="nb-NO" sz="3600" dirty="0"/>
              <a:t>AG-214: Focus &amp; aims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EA7A2-E4A5-2799-2A25-121BD1FEE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793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nb-NO" dirty="0"/>
              <a:t>Motivation:</a:t>
            </a:r>
          </a:p>
          <a:p>
            <a:r>
              <a:rPr lang="nb-NO" dirty="0"/>
              <a:t>Plan of approach for acquiring digital data sets</a:t>
            </a:r>
          </a:p>
          <a:p>
            <a:r>
              <a:rPr lang="nb-NO" dirty="0"/>
              <a:t>Standardised &amp; structured data processing</a:t>
            </a:r>
          </a:p>
          <a:p>
            <a:r>
              <a:rPr lang="nb-NO" dirty="0"/>
              <a:t>Scientific notekeeping and data availability</a:t>
            </a:r>
          </a:p>
          <a:p>
            <a:endParaRPr lang="nb-NO" dirty="0"/>
          </a:p>
          <a:p>
            <a:pPr marL="0" indent="0">
              <a:buNone/>
            </a:pPr>
            <a:r>
              <a:rPr lang="nb-NO" dirty="0"/>
              <a:t>Learning outcomes:</a:t>
            </a:r>
          </a:p>
          <a:p>
            <a:r>
              <a:rPr lang="nb-NO" dirty="0"/>
              <a:t>Fundamental </a:t>
            </a:r>
            <a:r>
              <a:rPr lang="nb-NO" dirty="0" err="1"/>
              <a:t>understanding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UAV </a:t>
            </a:r>
            <a:r>
              <a:rPr lang="nb-NO" dirty="0" err="1"/>
              <a:t>operations</a:t>
            </a:r>
            <a:r>
              <a:rPr lang="nb-NO" dirty="0"/>
              <a:t> in Svalbard</a:t>
            </a:r>
          </a:p>
          <a:p>
            <a:r>
              <a:rPr lang="nb-NO" dirty="0"/>
              <a:t>Fundamental understanding of photogrammetry, and how to </a:t>
            </a:r>
            <a:r>
              <a:rPr lang="nb-NO" dirty="0" err="1"/>
              <a:t>acquire</a:t>
            </a:r>
            <a:r>
              <a:rPr lang="nb-NO" dirty="0"/>
              <a:t> and </a:t>
            </a:r>
            <a:r>
              <a:rPr lang="nb-NO" dirty="0" err="1"/>
              <a:t>process</a:t>
            </a:r>
            <a:r>
              <a:rPr lang="nb-NO" dirty="0"/>
              <a:t> data</a:t>
            </a:r>
          </a:p>
          <a:p>
            <a:r>
              <a:rPr lang="nb-NO" dirty="0"/>
              <a:t>Basic </a:t>
            </a:r>
            <a:r>
              <a:rPr lang="nb-NO" dirty="0" err="1"/>
              <a:t>understanding</a:t>
            </a:r>
            <a:r>
              <a:rPr lang="nb-NO" dirty="0"/>
              <a:t> of how to apply georeferencing and spatial alignment</a:t>
            </a:r>
          </a:p>
          <a:p>
            <a:r>
              <a:rPr lang="nb-NO" dirty="0"/>
              <a:t>Become familiar with best-practices in data processing, including quality assessment and data validation</a:t>
            </a:r>
          </a:p>
          <a:p>
            <a:r>
              <a:rPr lang="nb-NO" dirty="0"/>
              <a:t>Be able to perform basic data analysis and feature interpretation</a:t>
            </a:r>
          </a:p>
          <a:p>
            <a:endParaRPr lang="nb-NO" dirty="0"/>
          </a:p>
          <a:p>
            <a:endParaRPr lang="nb-NO" sz="2800" dirty="0"/>
          </a:p>
          <a:p>
            <a:endParaRPr lang="nb-NO" sz="2800" dirty="0"/>
          </a:p>
          <a:p>
            <a:pPr marL="0" indent="0">
              <a:buNone/>
            </a:pPr>
            <a:endParaRPr lang="en-US" sz="28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878B93-9754-40C2-67B5-4C6B44C09932}"/>
              </a:ext>
            </a:extLst>
          </p:cNvPr>
          <p:cNvGrpSpPr/>
          <p:nvPr/>
        </p:nvGrpSpPr>
        <p:grpSpPr>
          <a:xfrm>
            <a:off x="9704900" y="6443508"/>
            <a:ext cx="2344684" cy="333050"/>
            <a:chOff x="9704900" y="6443508"/>
            <a:chExt cx="2344684" cy="333050"/>
          </a:xfrm>
        </p:grpSpPr>
        <p:pic>
          <p:nvPicPr>
            <p:cNvPr id="12" name="Picture 2" descr="UNIS - The university centre in Svalbard">
              <a:extLst>
                <a:ext uri="{FF2B5EF4-FFF2-40B4-BE49-F238E27FC236}">
                  <a16:creationId xmlns:a16="http://schemas.microsoft.com/office/drawing/2014/main" id="{502E761F-10E4-1995-7CC7-8E2CD0F4F7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3848" y="6443508"/>
              <a:ext cx="121014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Site is undergoing maintenance">
              <a:extLst>
                <a:ext uri="{FF2B5EF4-FFF2-40B4-BE49-F238E27FC236}">
                  <a16:creationId xmlns:a16="http://schemas.microsoft.com/office/drawing/2014/main" id="{3104184E-88A8-A108-F5E3-9A13782D2B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6409" y="6449818"/>
              <a:ext cx="28317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A black background with grey letters and a red triangle&#10;&#10;Description automatically generated">
              <a:extLst>
                <a:ext uri="{FF2B5EF4-FFF2-40B4-BE49-F238E27FC236}">
                  <a16:creationId xmlns:a16="http://schemas.microsoft.com/office/drawing/2014/main" id="{32CD27B1-17FB-17FD-5597-F00EA2756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4900" y="6486750"/>
              <a:ext cx="580285" cy="270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414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57161-C2F9-6914-11DB-78FEE0B71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62A9E6-8845-A1E4-4CF2-48312525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8E43761-B260-3D2C-D82B-20DC901BD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8FA81-EFAA-8987-2291-FC10F367A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849023-EF37-5F17-EAE3-79071613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C7357C-56C3-EA16-20B2-6F01C6778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664876F-B8D7-4FD5-96A3-BDFB05170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B076784-5BB5-705D-9068-7A5892BB4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309F967-0746-203B-A035-7019DB86E74F}"/>
              </a:ext>
            </a:extLst>
          </p:cNvPr>
          <p:cNvSpPr txBox="1">
            <a:spLocks/>
          </p:cNvSpPr>
          <p:nvPr/>
        </p:nvSpPr>
        <p:spPr>
          <a:xfrm>
            <a:off x="477980" y="4872922"/>
            <a:ext cx="4429300" cy="1591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6C162-62C4-39F2-8C95-027A6A92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7563"/>
            <a:ext cx="10515600" cy="1325563"/>
          </a:xfrm>
        </p:spPr>
        <p:txBody>
          <a:bodyPr>
            <a:normAutofit/>
          </a:bodyPr>
          <a:lstStyle/>
          <a:p>
            <a:r>
              <a:rPr lang="nb-NO" sz="3600" dirty="0"/>
              <a:t>AG-214: </a:t>
            </a:r>
            <a:r>
              <a:rPr lang="nb-NO" sz="3600" dirty="0" err="1"/>
              <a:t>Background</a:t>
            </a:r>
            <a:r>
              <a:rPr lang="nb-NO" sz="3600" dirty="0"/>
              <a:t> - </a:t>
            </a:r>
            <a:r>
              <a:rPr lang="nb-NO" sz="3600" dirty="0" err="1"/>
              <a:t>Svalbox</a:t>
            </a:r>
            <a:endParaRPr lang="en-US" sz="36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733BD6-9FB6-A232-2BF4-F6F034C2058F}"/>
              </a:ext>
            </a:extLst>
          </p:cNvPr>
          <p:cNvGrpSpPr/>
          <p:nvPr/>
        </p:nvGrpSpPr>
        <p:grpSpPr>
          <a:xfrm>
            <a:off x="9704900" y="6443508"/>
            <a:ext cx="2344684" cy="333050"/>
            <a:chOff x="9704900" y="6443508"/>
            <a:chExt cx="2344684" cy="333050"/>
          </a:xfrm>
        </p:grpSpPr>
        <p:pic>
          <p:nvPicPr>
            <p:cNvPr id="12" name="Picture 2" descr="UNIS - The university centre in Svalbard">
              <a:extLst>
                <a:ext uri="{FF2B5EF4-FFF2-40B4-BE49-F238E27FC236}">
                  <a16:creationId xmlns:a16="http://schemas.microsoft.com/office/drawing/2014/main" id="{097F49CE-C6B3-CABA-EF5D-2786CE8357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3848" y="6443508"/>
              <a:ext cx="121014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Site is undergoing maintenance">
              <a:extLst>
                <a:ext uri="{FF2B5EF4-FFF2-40B4-BE49-F238E27FC236}">
                  <a16:creationId xmlns:a16="http://schemas.microsoft.com/office/drawing/2014/main" id="{F77E6089-CFB8-47C0-E91B-2506E17FA2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6409" y="6449818"/>
              <a:ext cx="28317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A black background with grey letters and a red triangle&#10;&#10;Description automatically generated">
              <a:extLst>
                <a:ext uri="{FF2B5EF4-FFF2-40B4-BE49-F238E27FC236}">
                  <a16:creationId xmlns:a16="http://schemas.microsoft.com/office/drawing/2014/main" id="{87FB2D40-2E02-99A6-6DF0-493BC4AA5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4900" y="6486750"/>
              <a:ext cx="580285" cy="270414"/>
            </a:xfrm>
            <a:prstGeom prst="rect">
              <a:avLst/>
            </a:prstGeom>
          </p:spPr>
        </p:pic>
      </p:grpSp>
      <p:pic>
        <p:nvPicPr>
          <p:cNvPr id="18" name="Online Media 17" title="Svalbard in Summer - Svalbox 2021 acquisition campaign (Van Keulen and Van Mijenfjorden)">
            <a:hlinkClick r:id="" action="ppaction://media"/>
            <a:extLst>
              <a:ext uri="{FF2B5EF4-FFF2-40B4-BE49-F238E27FC236}">
                <a16:creationId xmlns:a16="http://schemas.microsoft.com/office/drawing/2014/main" id="{CA6B598D-E35C-ED5B-AC12-9BB40E5EAF6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252523" y="3986230"/>
            <a:ext cx="4224418" cy="2386957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31D1F5D-B9C5-C948-65F1-A0985C367D81}"/>
              </a:ext>
            </a:extLst>
          </p:cNvPr>
          <p:cNvSpPr txBox="1">
            <a:spLocks/>
          </p:cNvSpPr>
          <p:nvPr/>
        </p:nvSpPr>
        <p:spPr>
          <a:xfrm>
            <a:off x="838199" y="1371629"/>
            <a:ext cx="107857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 err="1"/>
              <a:t>Svalbox</a:t>
            </a:r>
            <a:r>
              <a:rPr lang="en-GB" sz="2200" dirty="0"/>
              <a:t> is UNIS’s open, interactive 3D geoscience database for Svalbard. It places digital outcrop models, photospheres, maps and related datasets within their regional geological context.</a:t>
            </a:r>
          </a:p>
          <a:p>
            <a:pPr marL="0" indent="0">
              <a:buNone/>
            </a:pPr>
            <a:r>
              <a:rPr lang="en-GB" sz="2200" dirty="0"/>
              <a:t>• Supports safer and more quantitative fieldwork</a:t>
            </a:r>
            <a:br>
              <a:rPr lang="en-GB" sz="2200" dirty="0"/>
            </a:br>
            <a:r>
              <a:rPr lang="en-GB" sz="2200" dirty="0"/>
              <a:t>• Provides open access to published models and source data</a:t>
            </a:r>
            <a:br>
              <a:rPr lang="en-GB" sz="2200" dirty="0"/>
            </a:br>
            <a:r>
              <a:rPr lang="en-GB" sz="2200" dirty="0"/>
              <a:t>• Uses </a:t>
            </a:r>
            <a:r>
              <a:rPr lang="en-GB" sz="2200" dirty="0" err="1"/>
              <a:t>SfM</a:t>
            </a:r>
            <a:r>
              <a:rPr lang="en-GB" sz="2200" dirty="0"/>
              <a:t> photogrammetry to create 3D models from overlapping photographs</a:t>
            </a:r>
            <a:br>
              <a:rPr lang="en-GB" sz="2200" dirty="0"/>
            </a:br>
            <a:r>
              <a:rPr lang="en-GB" sz="2200" dirty="0"/>
              <a:t>• Demonstrates the complete AG-214 workflow, from acquisition and processing to documentation and data sharing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D431E7-CE6F-A17C-A78B-DE1B29C2C6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994" y="3999117"/>
            <a:ext cx="2900011" cy="2386797"/>
          </a:xfrm>
          <a:prstGeom prst="rect">
            <a:avLst/>
          </a:prstGeom>
        </p:spPr>
      </p:pic>
      <p:pic>
        <p:nvPicPr>
          <p:cNvPr id="17" name="Online Media 16" title="GeoMonkey Presents: Svalbox Go North Campaign Spring 2023 - Behind the Scenes">
            <a:hlinkClick r:id="" action="ppaction://media"/>
            <a:extLst>
              <a:ext uri="{FF2B5EF4-FFF2-40B4-BE49-F238E27FC236}">
                <a16:creationId xmlns:a16="http://schemas.microsoft.com/office/drawing/2014/main" id="{BFD2FEA2-E799-A81D-5425-0178B56B7837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10"/>
          <a:stretch>
            <a:fillRect/>
          </a:stretch>
        </p:blipFill>
        <p:spPr>
          <a:xfrm>
            <a:off x="7715058" y="3999117"/>
            <a:ext cx="4224418" cy="238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8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4483D5-183C-E317-4602-6E2443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FE79144-A76D-F3CE-1B24-7CCE37658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2B546-A3AF-4C97-0CDA-90AABBCCF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AA31C-C6DE-73DE-7EC1-FE464C7D3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3611377-98E4-C64E-45A4-8C6EDE9BD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64E112C-FA58-F234-635E-5CF8EA251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C850582-7327-2255-77BA-0FC1C58B1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60260DA-12BE-6B6F-5524-C9D48504680C}"/>
              </a:ext>
            </a:extLst>
          </p:cNvPr>
          <p:cNvSpPr txBox="1">
            <a:spLocks/>
          </p:cNvSpPr>
          <p:nvPr/>
        </p:nvSpPr>
        <p:spPr>
          <a:xfrm>
            <a:off x="477980" y="4872922"/>
            <a:ext cx="4429300" cy="1591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D5C86-6C13-B385-18EB-CE82554A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7563"/>
            <a:ext cx="10515600" cy="1325563"/>
          </a:xfrm>
        </p:spPr>
        <p:txBody>
          <a:bodyPr>
            <a:normAutofit/>
          </a:bodyPr>
          <a:lstStyle/>
          <a:p>
            <a:r>
              <a:rPr lang="nb-NO" sz="3600" dirty="0"/>
              <a:t>AG-214: 2026 timetable</a:t>
            </a:r>
            <a:endParaRPr lang="en-US" sz="36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EF592C9-C97C-E732-2171-54D211E08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662659"/>
              </p:ext>
            </p:extLst>
          </p:nvPr>
        </p:nvGraphicFramePr>
        <p:xfrm>
          <a:off x="687047" y="975876"/>
          <a:ext cx="11055986" cy="5355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743">
                  <a:extLst>
                    <a:ext uri="{9D8B030D-6E8A-4147-A177-3AD203B41FA5}">
                      <a16:colId xmlns:a16="http://schemas.microsoft.com/office/drawing/2014/main" val="77285100"/>
                    </a:ext>
                  </a:extLst>
                </a:gridCol>
                <a:gridCol w="4651669">
                  <a:extLst>
                    <a:ext uri="{9D8B030D-6E8A-4147-A177-3AD203B41FA5}">
                      <a16:colId xmlns:a16="http://schemas.microsoft.com/office/drawing/2014/main" val="3914439117"/>
                    </a:ext>
                  </a:extLst>
                </a:gridCol>
                <a:gridCol w="3773574">
                  <a:extLst>
                    <a:ext uri="{9D8B030D-6E8A-4147-A177-3AD203B41FA5}">
                      <a16:colId xmlns:a16="http://schemas.microsoft.com/office/drawing/2014/main" val="3390683289"/>
                    </a:ext>
                  </a:extLst>
                </a:gridCol>
              </a:tblGrid>
              <a:tr h="346277">
                <a:tc>
                  <a:txBody>
                    <a:bodyPr/>
                    <a:lstStyle/>
                    <a:p>
                      <a:r>
                        <a:rPr lang="nb-NO" dirty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Geo-SfM Session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Deliverable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340800"/>
                  </a:ext>
                </a:extLst>
              </a:tr>
              <a:tr h="865692">
                <a:tc>
                  <a:txBody>
                    <a:bodyPr/>
                    <a:lstStyle/>
                    <a:p>
                      <a:r>
                        <a:rPr lang="nb-NO" dirty="0"/>
                        <a:t>21.09 (</a:t>
                      </a:r>
                      <a:r>
                        <a:rPr lang="nb-NO" dirty="0" err="1"/>
                        <a:t>morning</a:t>
                      </a:r>
                      <a:r>
                        <a:rPr lang="nb-NO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nb-NO" dirty="0"/>
                        <a:t>Welcome to </a:t>
                      </a:r>
                      <a:r>
                        <a:rPr lang="nb-NO" dirty="0" err="1"/>
                        <a:t>Geo</a:t>
                      </a:r>
                      <a:r>
                        <a:rPr lang="nb-NO" dirty="0"/>
                        <a:t>-UAV/</a:t>
                      </a:r>
                      <a:r>
                        <a:rPr lang="nb-NO" dirty="0" err="1"/>
                        <a:t>Geo-SfM</a:t>
                      </a:r>
                      <a:r>
                        <a:rPr lang="nb-NO" dirty="0"/>
                        <a:t>/GitHub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/>
                        <a:t>Learning </a:t>
                      </a:r>
                      <a:r>
                        <a:rPr lang="nb-NO" dirty="0" err="1"/>
                        <a:t>the</a:t>
                      </a:r>
                      <a:r>
                        <a:rPr lang="nb-NO" dirty="0"/>
                        <a:t> ropes </a:t>
                      </a:r>
                      <a:r>
                        <a:rPr lang="nb-NO" dirty="0" err="1"/>
                        <a:t>with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SvalBox</a:t>
                      </a:r>
                      <a:endParaRPr lang="nb-NO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/>
                        <a:t>UAV Ses. 1: UAS Operators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nb-NO" dirty="0" err="1"/>
                        <a:t>SfM</a:t>
                      </a:r>
                      <a:r>
                        <a:rPr lang="nb-NO" dirty="0"/>
                        <a:t> Ses. 1: </a:t>
                      </a:r>
                      <a:r>
                        <a:rPr lang="nb-NO" dirty="0" err="1"/>
                        <a:t>SfM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photogrammetry</a:t>
                      </a:r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 err="1"/>
                        <a:t>Registered</a:t>
                      </a:r>
                      <a:r>
                        <a:rPr lang="nb-NO" dirty="0"/>
                        <a:t> as an operator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 err="1"/>
                        <a:t>Experience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with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accessing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Svalbox</a:t>
                      </a:r>
                      <a:endParaRPr lang="nb-NO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 err="1"/>
                        <a:t>Introduction</a:t>
                      </a:r>
                      <a:r>
                        <a:rPr lang="nb-NO" dirty="0"/>
                        <a:t> to UAS </a:t>
                      </a:r>
                      <a:r>
                        <a:rPr lang="nb-NO" dirty="0" err="1"/>
                        <a:t>surveying</a:t>
                      </a:r>
                      <a:r>
                        <a:rPr lang="nb-NO" dirty="0"/>
                        <a:t>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 err="1"/>
                        <a:t>Introduction</a:t>
                      </a:r>
                      <a:r>
                        <a:rPr lang="nb-NO" dirty="0"/>
                        <a:t> to 3D </a:t>
                      </a:r>
                      <a:r>
                        <a:rPr lang="nb-NO" dirty="0" err="1"/>
                        <a:t>modelling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621934"/>
                  </a:ext>
                </a:extLst>
              </a:tr>
              <a:tr h="5090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dirty="0"/>
                        <a:t>21.09 (</a:t>
                      </a:r>
                      <a:r>
                        <a:rPr lang="nb-NO" dirty="0" err="1"/>
                        <a:t>afternon</a:t>
                      </a:r>
                      <a:r>
                        <a:rPr lang="nb-NO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UAV Ses. 3: Flying a multirotor UAV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UAV Ses. 4: Planning and Surveying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HSE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/>
                        <a:t>Trial </a:t>
                      </a:r>
                      <a:r>
                        <a:rPr lang="nb-NO" dirty="0" err="1"/>
                        <a:t>with</a:t>
                      </a:r>
                      <a:r>
                        <a:rPr lang="nb-NO" dirty="0"/>
                        <a:t> flying/drones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/>
                        <a:t>Field/survey planning (in 4 </a:t>
                      </a:r>
                      <a:r>
                        <a:rPr lang="nb-NO" dirty="0" err="1"/>
                        <a:t>groups</a:t>
                      </a:r>
                      <a:r>
                        <a:rPr lang="nb-NO" dirty="0"/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/>
                        <a:t>Survey </a:t>
                      </a:r>
                      <a:r>
                        <a:rPr lang="nb-NO" dirty="0" err="1"/>
                        <a:t>objectives</a:t>
                      </a:r>
                      <a:r>
                        <a:rPr lang="nb-NO" dirty="0"/>
                        <a:t> (4 total)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496213"/>
                  </a:ext>
                </a:extLst>
              </a:tr>
              <a:tr h="5090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dirty="0"/>
                        <a:t>22.09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FIELD training &amp;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/>
                        <a:t>FIELD data (4 data </a:t>
                      </a:r>
                      <a:r>
                        <a:rPr lang="nb-NO" dirty="0" err="1"/>
                        <a:t>sets</a:t>
                      </a:r>
                      <a:r>
                        <a:rPr lang="nb-N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412356"/>
                  </a:ext>
                </a:extLst>
              </a:tr>
              <a:tr h="8656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dirty="0"/>
                        <a:t>23.09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nb-NO" dirty="0" err="1"/>
                        <a:t>SfM</a:t>
                      </a:r>
                      <a:r>
                        <a:rPr lang="nb-NO" dirty="0"/>
                        <a:t> Ses. 1: </a:t>
                      </a:r>
                      <a:r>
                        <a:rPr lang="nb-NO" dirty="0" err="1"/>
                        <a:t>SfM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photogrammetry</a:t>
                      </a:r>
                      <a:endParaRPr lang="nb-NO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 err="1"/>
                        <a:t>SfM</a:t>
                      </a:r>
                      <a:r>
                        <a:rPr lang="en-US" dirty="0"/>
                        <a:t> Ses. 3: Geo-referencing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 err="1"/>
                        <a:t>Create</a:t>
                      </a:r>
                      <a:r>
                        <a:rPr lang="nb-NO" dirty="0"/>
                        <a:t> a </a:t>
                      </a:r>
                      <a:r>
                        <a:rPr lang="nb-NO" dirty="0" err="1"/>
                        <a:t>georeferenced</a:t>
                      </a:r>
                      <a:r>
                        <a:rPr lang="nb-NO" dirty="0"/>
                        <a:t>, 3D </a:t>
                      </a:r>
                      <a:r>
                        <a:rPr lang="nb-NO" dirty="0" err="1"/>
                        <a:t>model</a:t>
                      </a:r>
                      <a:r>
                        <a:rPr lang="nb-NO" dirty="0"/>
                        <a:t> (</a:t>
                      </a:r>
                      <a:r>
                        <a:rPr lang="nb-NO" dirty="0" err="1"/>
                        <a:t>own</a:t>
                      </a:r>
                      <a:r>
                        <a:rPr lang="nb-NO" dirty="0"/>
                        <a:t> data)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 err="1"/>
                        <a:t>Georeferencing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knowledge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902243"/>
                  </a:ext>
                </a:extLst>
              </a:tr>
              <a:tr h="8656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nb-NO" dirty="0" err="1"/>
                        <a:t>SfM</a:t>
                      </a:r>
                      <a:r>
                        <a:rPr lang="nb-NO" dirty="0"/>
                        <a:t> Ses. 1: </a:t>
                      </a:r>
                      <a:r>
                        <a:rPr lang="nb-NO" dirty="0" err="1"/>
                        <a:t>SfM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photogrammetry</a:t>
                      </a:r>
                      <a:endParaRPr lang="nb-NO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 err="1"/>
                        <a:t>SfM</a:t>
                      </a:r>
                      <a:r>
                        <a:rPr lang="en-US" dirty="0"/>
                        <a:t> Ses. 4</a:t>
                      </a:r>
                      <a:r>
                        <a:rPr lang="nb-NO" dirty="0"/>
                        <a:t>: Automation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 err="1"/>
                        <a:t>SfM</a:t>
                      </a:r>
                      <a:r>
                        <a:rPr lang="nb-NO" dirty="0"/>
                        <a:t> Ses. 5: </a:t>
                      </a:r>
                      <a:r>
                        <a:rPr lang="nb-NO" dirty="0" err="1"/>
                        <a:t>Visualisation</a:t>
                      </a:r>
                      <a:endParaRPr lang="nb-NO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/>
                        <a:t>Field data </a:t>
                      </a:r>
                      <a:r>
                        <a:rPr lang="nb-NO" dirty="0" err="1"/>
                        <a:t>presentations</a:t>
                      </a:r>
                      <a:endParaRPr lang="nb-NO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 err="1"/>
                        <a:t>Automated</a:t>
                      </a:r>
                      <a:r>
                        <a:rPr lang="nb-NO" dirty="0"/>
                        <a:t>/</a:t>
                      </a:r>
                      <a:r>
                        <a:rPr lang="nb-NO" dirty="0" err="1"/>
                        <a:t>structured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approach</a:t>
                      </a:r>
                      <a:r>
                        <a:rPr lang="nb-NO" dirty="0"/>
                        <a:t> to </a:t>
                      </a:r>
                      <a:r>
                        <a:rPr lang="nb-NO" dirty="0" err="1"/>
                        <a:t>processing</a:t>
                      </a:r>
                      <a:r>
                        <a:rPr lang="nb-NO" dirty="0"/>
                        <a:t>/data management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b-NO" dirty="0"/>
                        <a:t>Integrated GIS </a:t>
                      </a:r>
                      <a:r>
                        <a:rPr lang="nb-NO" dirty="0" err="1"/>
                        <a:t>project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with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field</a:t>
                      </a:r>
                      <a:r>
                        <a:rPr lang="nb-NO" dirty="0"/>
                        <a:t>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519345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D0295AE9-B9BE-D78B-CFF5-81DE9C8ECE60}"/>
              </a:ext>
            </a:extLst>
          </p:cNvPr>
          <p:cNvGrpSpPr/>
          <p:nvPr/>
        </p:nvGrpSpPr>
        <p:grpSpPr>
          <a:xfrm>
            <a:off x="9704900" y="6443508"/>
            <a:ext cx="2344684" cy="333050"/>
            <a:chOff x="9704900" y="6443508"/>
            <a:chExt cx="2344684" cy="333050"/>
          </a:xfrm>
        </p:grpSpPr>
        <p:pic>
          <p:nvPicPr>
            <p:cNvPr id="11" name="Picture 2" descr="UNIS - The university centre in Svalbard">
              <a:extLst>
                <a:ext uri="{FF2B5EF4-FFF2-40B4-BE49-F238E27FC236}">
                  <a16:creationId xmlns:a16="http://schemas.microsoft.com/office/drawing/2014/main" id="{F69846FC-0AC2-797C-08D1-E008C1B0B4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3848" y="6443508"/>
              <a:ext cx="121014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Site is undergoing maintenance">
              <a:extLst>
                <a:ext uri="{FF2B5EF4-FFF2-40B4-BE49-F238E27FC236}">
                  <a16:creationId xmlns:a16="http://schemas.microsoft.com/office/drawing/2014/main" id="{B309E4B4-0892-B56D-6ABE-361E2621A0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6409" y="6449818"/>
              <a:ext cx="28317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A black background with grey letters and a red triangle&#10;&#10;Description automatically generated">
              <a:extLst>
                <a:ext uri="{FF2B5EF4-FFF2-40B4-BE49-F238E27FC236}">
                  <a16:creationId xmlns:a16="http://schemas.microsoft.com/office/drawing/2014/main" id="{D4868902-56D2-4DF3-1636-EF0C34048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4900" y="6486750"/>
              <a:ext cx="580285" cy="270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399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4483D5-183C-E317-4602-6E2443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FE79144-A76D-F3CE-1B24-7CCE37658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2B546-A3AF-4C97-0CDA-90AABBCCF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AA31C-C6DE-73DE-7EC1-FE464C7D3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3611377-98E4-C64E-45A4-8C6EDE9BD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64E112C-FA58-F234-635E-5CF8EA251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C850582-7327-2255-77BA-0FC1C58B1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60260DA-12BE-6B6F-5524-C9D48504680C}"/>
              </a:ext>
            </a:extLst>
          </p:cNvPr>
          <p:cNvSpPr txBox="1">
            <a:spLocks/>
          </p:cNvSpPr>
          <p:nvPr/>
        </p:nvSpPr>
        <p:spPr>
          <a:xfrm>
            <a:off x="477980" y="4872922"/>
            <a:ext cx="4429300" cy="1591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D5C86-6C13-B385-18EB-CE82554A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7563"/>
            <a:ext cx="10515600" cy="1325563"/>
          </a:xfrm>
        </p:spPr>
        <p:txBody>
          <a:bodyPr>
            <a:normAutofit/>
          </a:bodyPr>
          <a:lstStyle/>
          <a:p>
            <a:r>
              <a:rPr lang="nb-NO" sz="3600" dirty="0"/>
              <a:t>Geo-SfM platform: Github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EA7A2-E4A5-2799-2A25-121BD1FEE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793" cy="4351338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Github: </a:t>
            </a:r>
          </a:p>
          <a:p>
            <a:r>
              <a:rPr lang="nb-NO" dirty="0"/>
              <a:t>User-friendly</a:t>
            </a:r>
          </a:p>
          <a:p>
            <a:r>
              <a:rPr lang="nb-NO" dirty="0"/>
              <a:t>Commercial platform for version control (keep track of changes)...</a:t>
            </a:r>
          </a:p>
          <a:p>
            <a:r>
              <a:rPr lang="nb-NO" dirty="0"/>
              <a:t>... and that facilitates collaboration</a:t>
            </a:r>
          </a:p>
          <a:p>
            <a:r>
              <a:rPr lang="nb-NO" dirty="0"/>
              <a:t>Implements Git</a:t>
            </a:r>
          </a:p>
          <a:p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nb-NO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7786E1-4D32-3487-9C8A-73C17FAE4455}"/>
              </a:ext>
            </a:extLst>
          </p:cNvPr>
          <p:cNvGrpSpPr/>
          <p:nvPr/>
        </p:nvGrpSpPr>
        <p:grpSpPr>
          <a:xfrm>
            <a:off x="9704900" y="6443508"/>
            <a:ext cx="2344684" cy="333050"/>
            <a:chOff x="9704900" y="6443508"/>
            <a:chExt cx="2344684" cy="333050"/>
          </a:xfrm>
        </p:grpSpPr>
        <p:pic>
          <p:nvPicPr>
            <p:cNvPr id="12" name="Picture 2" descr="UNIS - The university centre in Svalbard">
              <a:extLst>
                <a:ext uri="{FF2B5EF4-FFF2-40B4-BE49-F238E27FC236}">
                  <a16:creationId xmlns:a16="http://schemas.microsoft.com/office/drawing/2014/main" id="{7857D84E-5AB1-BC8C-1788-6378C618A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3848" y="6443508"/>
              <a:ext cx="121014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Site is undergoing maintenance">
              <a:extLst>
                <a:ext uri="{FF2B5EF4-FFF2-40B4-BE49-F238E27FC236}">
                  <a16:creationId xmlns:a16="http://schemas.microsoft.com/office/drawing/2014/main" id="{7B95A598-3FDF-9702-5ECD-CAF14104B0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6409" y="6449818"/>
              <a:ext cx="28317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A black background with grey letters and a red triangle&#10;&#10;Description automatically generated">
              <a:extLst>
                <a:ext uri="{FF2B5EF4-FFF2-40B4-BE49-F238E27FC236}">
                  <a16:creationId xmlns:a16="http://schemas.microsoft.com/office/drawing/2014/main" id="{6E365E64-C540-08E9-5D2B-58B832F4B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4900" y="6486750"/>
              <a:ext cx="580285" cy="270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100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4483D5-183C-E317-4602-6E2443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FE79144-A76D-F3CE-1B24-7CCE37658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2B546-A3AF-4C97-0CDA-90AABBCCF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AA31C-C6DE-73DE-7EC1-FE464C7D3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3611377-98E4-C64E-45A4-8C6EDE9BD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64E112C-FA58-F234-635E-5CF8EA251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C850582-7327-2255-77BA-0FC1C58B1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60260DA-12BE-6B6F-5524-C9D48504680C}"/>
              </a:ext>
            </a:extLst>
          </p:cNvPr>
          <p:cNvSpPr txBox="1">
            <a:spLocks/>
          </p:cNvSpPr>
          <p:nvPr/>
        </p:nvSpPr>
        <p:spPr>
          <a:xfrm>
            <a:off x="477980" y="4872922"/>
            <a:ext cx="4429300" cy="1591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D5C86-6C13-B385-18EB-CE82554A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7563"/>
            <a:ext cx="10515600" cy="1325563"/>
          </a:xfrm>
        </p:spPr>
        <p:txBody>
          <a:bodyPr>
            <a:normAutofit/>
          </a:bodyPr>
          <a:lstStyle/>
          <a:p>
            <a:r>
              <a:rPr lang="nb-NO" sz="3600" dirty="0"/>
              <a:t>Geo-SfM platform: Github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EA7A2-E4A5-2799-2A25-121BD1FEE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5793" cy="4351338"/>
          </a:xfrm>
        </p:spPr>
        <p:txBody>
          <a:bodyPr>
            <a:normAutofit lnSpcReduction="1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Github: </a:t>
            </a:r>
          </a:p>
          <a:p>
            <a:r>
              <a:rPr lang="nb-NO" dirty="0"/>
              <a:t>User-friendly</a:t>
            </a:r>
          </a:p>
          <a:p>
            <a:r>
              <a:rPr lang="nb-NO" dirty="0"/>
              <a:t>Commercial platform for version control (keep track of changes)...</a:t>
            </a:r>
          </a:p>
          <a:p>
            <a:r>
              <a:rPr lang="nb-NO" dirty="0"/>
              <a:t>... and that facilitates collaboration</a:t>
            </a:r>
          </a:p>
          <a:p>
            <a:r>
              <a:rPr lang="nb-NO" dirty="0"/>
              <a:t>Implements Git</a:t>
            </a:r>
          </a:p>
          <a:p>
            <a:endParaRPr lang="nb-NO" dirty="0"/>
          </a:p>
          <a:p>
            <a:pPr marL="0" indent="0">
              <a:buNone/>
            </a:pPr>
            <a:r>
              <a:rPr lang="nb-NO" dirty="0" err="1"/>
              <a:t>Notice</a:t>
            </a:r>
            <a:r>
              <a:rPr lang="nb-NO" dirty="0"/>
              <a:t> </a:t>
            </a:r>
            <a:r>
              <a:rPr lang="nb-NO" dirty="0" err="1"/>
              <a:t>something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needs</a:t>
            </a:r>
            <a:r>
              <a:rPr lang="nb-NO" dirty="0"/>
              <a:t> </a:t>
            </a:r>
            <a:r>
              <a:rPr lang="nb-NO" dirty="0" err="1"/>
              <a:t>changing</a:t>
            </a:r>
            <a:r>
              <a:rPr lang="nb-NO" dirty="0"/>
              <a:t>?</a:t>
            </a:r>
          </a:p>
          <a:p>
            <a:r>
              <a:rPr lang="nb-NO" dirty="0" err="1"/>
              <a:t>Sign</a:t>
            </a:r>
            <a:r>
              <a:rPr lang="nb-NO" dirty="0"/>
              <a:t> up to GitHub, </a:t>
            </a:r>
            <a:r>
              <a:rPr lang="nb-NO" dirty="0" err="1"/>
              <a:t>correct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resource</a:t>
            </a:r>
            <a:r>
              <a:rPr lang="nb-NO" dirty="0"/>
              <a:t>, and re-</a:t>
            </a:r>
            <a:r>
              <a:rPr lang="nb-NO" dirty="0" err="1"/>
              <a:t>submit</a:t>
            </a:r>
            <a:r>
              <a:rPr lang="nb-NO" dirty="0"/>
              <a:t> («PR-</a:t>
            </a:r>
            <a:r>
              <a:rPr lang="nb-NO" dirty="0" err="1"/>
              <a:t>request</a:t>
            </a:r>
            <a:r>
              <a:rPr lang="nb-NO" dirty="0"/>
              <a:t>») it for </a:t>
            </a:r>
            <a:r>
              <a:rPr lang="nb-NO" dirty="0" err="1"/>
              <a:t>approval</a:t>
            </a:r>
            <a:r>
              <a:rPr lang="nb-NO" dirty="0"/>
              <a:t>/</a:t>
            </a:r>
            <a:r>
              <a:rPr lang="nb-NO" dirty="0" err="1"/>
              <a:t>integration</a:t>
            </a:r>
            <a:endParaRPr lang="nb-NO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nb-NO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0573437-29CC-635C-9E9E-43AD7B223925}"/>
              </a:ext>
            </a:extLst>
          </p:cNvPr>
          <p:cNvGrpSpPr/>
          <p:nvPr/>
        </p:nvGrpSpPr>
        <p:grpSpPr>
          <a:xfrm>
            <a:off x="9704900" y="6443508"/>
            <a:ext cx="2344684" cy="333050"/>
            <a:chOff x="9704900" y="6443508"/>
            <a:chExt cx="2344684" cy="333050"/>
          </a:xfrm>
        </p:grpSpPr>
        <p:pic>
          <p:nvPicPr>
            <p:cNvPr id="12" name="Picture 2" descr="UNIS - The university centre in Svalbard">
              <a:extLst>
                <a:ext uri="{FF2B5EF4-FFF2-40B4-BE49-F238E27FC236}">
                  <a16:creationId xmlns:a16="http://schemas.microsoft.com/office/drawing/2014/main" id="{6F1091F6-6E7E-19B8-8C1E-29B760FE68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3848" y="6443508"/>
              <a:ext cx="121014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Site is undergoing maintenance">
              <a:extLst>
                <a:ext uri="{FF2B5EF4-FFF2-40B4-BE49-F238E27FC236}">
                  <a16:creationId xmlns:a16="http://schemas.microsoft.com/office/drawing/2014/main" id="{2E1FA754-092F-790E-D6F3-D6E7FFB0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6409" y="6449818"/>
              <a:ext cx="283175" cy="326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A black background with grey letters and a red triangle&#10;&#10;Description automatically generated">
              <a:extLst>
                <a:ext uri="{FF2B5EF4-FFF2-40B4-BE49-F238E27FC236}">
                  <a16:creationId xmlns:a16="http://schemas.microsoft.com/office/drawing/2014/main" id="{81F33D2E-9031-094B-BD6B-56890A255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4900" y="6486750"/>
              <a:ext cx="580285" cy="270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2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556</Words>
  <Application>Microsoft Office PowerPoint</Application>
  <PresentationFormat>Widescreen</PresentationFormat>
  <Paragraphs>87</Paragraphs>
  <Slides>7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AG-214: autumn 2026 lecture series</vt:lpstr>
      <vt:lpstr>AG-214: Focus &amp; aims</vt:lpstr>
      <vt:lpstr>AG-214: Background - Svalbox</vt:lpstr>
      <vt:lpstr>AG-214: 2026 timetable</vt:lpstr>
      <vt:lpstr>Geo-SfM platform: Github</vt:lpstr>
      <vt:lpstr>Geo-SfM platform: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Geo-MOD: A new way of teaching photogrammetry-based data acquisition</dc:title>
  <dc:creator>Nil Rodés</dc:creator>
  <cp:lastModifiedBy>Peter Betlem</cp:lastModifiedBy>
  <cp:revision>28</cp:revision>
  <dcterms:created xsi:type="dcterms:W3CDTF">2023-10-16T14:21:59Z</dcterms:created>
  <dcterms:modified xsi:type="dcterms:W3CDTF">2026-09-20T13:19:31Z</dcterms:modified>
</cp:coreProperties>
</file>